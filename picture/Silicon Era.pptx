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465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8FE27-9BD2-4371-B0C1-9A97E7CE638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54D77-F0FB-466D-BA97-A3BF81491D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276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人类正在进入硅基时代，人工智能深度参与生产、管理与决策，正在也将彻底改变社会运行结构。</a:t>
            </a:r>
            <a:r>
              <a:rPr lang="zh-CN" altLang="en-US" sz="1200" b="0" i="0" dirty="0">
                <a:solidFill>
                  <a:srgbClr val="706E6A"/>
                </a:solidFill>
                <a:latin typeface="Microsoft YaHei"/>
              </a:rPr>
              <a:t>人类文明将如何重新组织自身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54D77-F0FB-466D-BA97-A3BF81491D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053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硅基⽣命”这个词最早出现在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1891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年，英国化学家发现，硅和碳在元素周期表⾥同为第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IVA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族元素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都能形成四个化学键，理论上都能构建复杂的⽣命分⼦。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这个想法后来进⼊科幻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⸺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《星际迷航》⾥的矿物外星⽣命，深入大众想象。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今天”硅基时代”，不是说发现外星硅基⽣物，⽽是说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⸺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以硅芯⽚为载体的⼈⼯智能，正在深度重组⼈类的⽣产⽅式和⽣活⽅式。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54D77-F0FB-466D-BA97-A3BF81491D6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1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“⼈类社会是⼀段⾮常⼩的代码，本质是⼀个⽣物引导程序，最终导致硅基⽣命的出现。”引导程序就是电脑开机时最先运⾏的那段⼩程序，它的唯⼀使命是把操作系统加载起来，然后把控制权交出去。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⻢斯克的意思是：⼈类创造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，就像引导程序启动操作系统。我们是过渡，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才是最终运⾏的主系统。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⻢斯克是在做⼀个悲观的务实主义者。无法逆转这个趋势，⼈类最好的策略是主动融合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⸺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脑机接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口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，把⼈的意识和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连接起来，⽽不是被动地被取代。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54D77-F0FB-466D-BA97-A3BF81491D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168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ChatGPT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让所有人看到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能理解语言。黄仁勋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这一次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宣布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要理解的是物理世界——重力、惯性、因果关系，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终于开始真正理解真实世界。这意味着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要从屏幕走出来，进入机器人的身体，走进工厂、走上马路。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为此英伟达发布了三大支柱：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Cosmos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世界基础模型。 先在数字孪生的虚拟世界里大规模训练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的物理直觉，让机器人学会走路、抓取、搬运，再部署到真实场景。虚拟世界是训练场，真实世界才是战场。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第二，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Alpamayo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自动驾驶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全球第一个会思考、会推理的端到端自动驾驶系统。它不只会开车，还能解释自己为什么这么开——这是质的飞跃。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年第一季度，首批搭载这套系统的汽车已经上路。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Vera Rubin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超级算力架构。 从芯片到机架的全栈革命，每机架配备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150TB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共享记忆池，支撑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算力每年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倍的增长需求。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底部那四个数字是黄仁勋这场演讲的核心坐标：算力每年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倍增长，全球十万亿美元的基础设施待重建，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年第一季度物理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汽车正式上路，英伟达从一家芯片公司，正式成为全栈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体系的构建者。这是一个宣言——硅基智能正式进入物理世界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54D77-F0FB-466D-BA97-A3BF81491D6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938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那具体到每个⼈的⽣活，会变成什么样？ ⼯作层⾯，重复性的脑⼒和体⼒劳动会⼤幅减少。会计、客服、流⽔线⼯⼈，这些⼯作不会消失，但会被⼤幅压缩。⼈类将更多专注于判断、创意和情感连接。 医疗层⾯，</a:t>
            </a:r>
            <a:r>
              <a:rPr lang="en-US" altLang="zh-CN" dirty="0"/>
              <a:t>AI</a:t>
            </a:r>
            <a:r>
              <a:rPr lang="zh-CN" altLang="en-US" dirty="0"/>
              <a:t>实时监测你的身体数据，⽐医⽣更早发现异常。新药研发从⼗年压缩到⼀两年。 教育层⾯，</a:t>
            </a:r>
            <a:r>
              <a:rPr lang="en-US" altLang="zh-CN" dirty="0"/>
              <a:t>AI</a:t>
            </a:r>
            <a:r>
              <a:rPr lang="zh-CN" altLang="en-US" dirty="0"/>
              <a:t>因材施教，每个孩⼦都有专属学习路径，⽽不是⼀个⽼师⾯对五⼗个不同的孩⼦。 出⾏层⾯，⾃动驾驶普及后，全球每年</a:t>
            </a:r>
            <a:r>
              <a:rPr lang="en-US" altLang="zh-CN" dirty="0"/>
              <a:t>130</a:t>
            </a:r>
            <a:r>
              <a:rPr lang="zh-CN" altLang="en-US" dirty="0"/>
              <a:t>万⼈因交通事故死亡这个数字，可能接近消失。 这些不是幻想，这些是现在已经在发⽣的事情的延伸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54D77-F0FB-466D-BA97-A3BF81491D6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776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，⾯对同⼀个趋势，⻩仁勋和⻢斯克的态度完全不同。 ⻩仁勋是乐观的⼯具论者。他认为</a:t>
            </a:r>
            <a:r>
              <a:rPr lang="en-US" altLang="zh-CN" dirty="0"/>
              <a:t>AI</a:t>
            </a:r>
            <a:r>
              <a:rPr lang="zh-CN" altLang="en-US" dirty="0"/>
              <a:t>是有史以来最强⼤的⽣产⼒⼯具，会创造巨⼤财富和机会。 他在讲”怎么⽤好它”。 ⻢斯克是警示的融合论者。他认为</a:t>
            </a:r>
            <a:r>
              <a:rPr lang="en-US" altLang="zh-CN" dirty="0"/>
              <a:t>AI</a:t>
            </a:r>
            <a:r>
              <a:rPr lang="zh-CN" altLang="en-US" dirty="0"/>
              <a:t>终将超越⼈类智能，⼈类如果不主动介⼊，可能沦为旁观 者。他在讲”我们能不能还活着看到结局”。 两个⼈都是对的，只是他们在回答不同的问题。⻩仁勋在看近五年，⻢斯克在看下⼀个五⼗年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54D77-F0FB-466D-BA97-A3BF81491D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008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现在进⼊今天最深的⼀个问题。 </a:t>
            </a:r>
            <a:r>
              <a:rPr lang="en-US" altLang="zh-CN" dirty="0"/>
              <a:t>AI</a:t>
            </a:r>
            <a:r>
              <a:rPr lang="zh-CN" altLang="en-US" dirty="0"/>
              <a:t>不只是改变⼯具，它在改变权⼒的来源。 ⼈类社会⼏千年来的组织⽅式，是建⽴在三个约束上的：信息不对称、资源稀缺、⼈际信任⽹ 络。官僚体制、公司层级、⺠主选举⸺都是在这三个约束下演化出来的管理⼯具。 但当</a:t>
            </a:r>
            <a:r>
              <a:rPr lang="en-US" altLang="zh-CN" dirty="0"/>
              <a:t>AI</a:t>
            </a:r>
            <a:r>
              <a:rPr lang="zh-CN" altLang="en-US" dirty="0"/>
              <a:t>可以实时处理全公司数据并给出最优决策，中间管理层存在的理由就消失了。当算法可以 预测社会⾏为并调配资源，传统的权⼒来源就被动摇了。 我们正在从”⼈管理⼈”的范式，转向”⼈设定规则，</a:t>
            </a:r>
            <a:r>
              <a:rPr lang="en-US" altLang="zh-CN" dirty="0"/>
              <a:t>AI</a:t>
            </a:r>
            <a:r>
              <a:rPr lang="zh-CN" altLang="en-US" dirty="0"/>
              <a:t>管理系统，系统作⽤于⼈”的范式。 这不只是效率的提升，这是⽂明组织⽅式的根本转变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54D77-F0FB-466D-BA97-A3BF81491D6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219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所以，整个硅基时代最核⼼的问题，只有一个 </a:t>
            </a:r>
            <a:r>
              <a:rPr lang="en-US" altLang="zh-CN" dirty="0"/>
              <a:t>AI</a:t>
            </a:r>
            <a:r>
              <a:rPr lang="zh-CN" altLang="en-US" dirty="0"/>
              <a:t>的⽬标函数，由谁定义，为谁服务？ 有三条路。 第⼀条：科技资本定义。少数掌握算⼒和数据的平台，⽤</a:t>
            </a:r>
            <a:r>
              <a:rPr lang="en-US" altLang="zh-CN" dirty="0"/>
              <a:t>AI</a:t>
            </a:r>
            <a:r>
              <a:rPr lang="zh-CN" altLang="en-US" dirty="0"/>
              <a:t>最⼤化商业利益。效率极⾼，但财富 极度集中，“赢家通吃”将⽐今天严重⼀百倍。 第⼆条：国家政府定义。</a:t>
            </a:r>
            <a:r>
              <a:rPr lang="en-US" altLang="zh-CN" dirty="0"/>
              <a:t>AI</a:t>
            </a:r>
            <a:r>
              <a:rPr lang="zh-CN" altLang="en-US" dirty="0"/>
              <a:t>成为治理⼯具，社会稳定，但个体⾃由空间收窄，权⼒监控能⼒前所 未有。 第三条：某种⺠主机制定义。需要发明全新的”</a:t>
            </a:r>
            <a:r>
              <a:rPr lang="en-US" altLang="zh-CN" dirty="0"/>
              <a:t>AI</a:t>
            </a:r>
            <a:r>
              <a:rPr lang="zh-CN" altLang="en-US" dirty="0"/>
              <a:t>时代宪政”⸺让</a:t>
            </a:r>
            <a:r>
              <a:rPr lang="en-US" altLang="zh-CN" dirty="0"/>
              <a:t>AI</a:t>
            </a:r>
            <a:r>
              <a:rPr lang="zh-CN" altLang="en-US" dirty="0"/>
              <a:t>的⽬标反映⼤多数⼈的真实意 愿，⽽不是少数⼈的利益。 ⽬前，全世界没有任何⼀个社会真正想清楚了这个问题。这意味着，现在是最关键的窗⼝期。今 天的技术架构选择、监管框架选择、价值观选择，将深刻影响未来⼏⼗年的社会⾛向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54D77-F0FB-466D-BA97-A3BF81491D6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727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硅基时代，不是硅基⽣命取代⼈类，⽽是⼈类借助硅基⼯具，⼤规模重组⽂明的时代。 ⻢斯克和⻩仁勋给了我们两个路标。但路是⼈⾛出来的。 我们，正站在这个窗⼝期的正中央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54D77-F0FB-466D-BA97-A3BF81491D6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058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164592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164592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76888" y="6492240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14632" y="6309360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6E6A"/>
                </a:solidFill>
                <a:latin typeface="Consolas"/>
              </a:rPr>
              <a:t>01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1166" y="1371600"/>
            <a:ext cx="5486400" cy="4114800"/>
          </a:xfrm>
          <a:prstGeom prst="rect">
            <a:avLst/>
          </a:prstGeom>
          <a:solidFill>
            <a:srgbClr val="00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0E5FF"/>
                </a:solidFill>
                <a:latin typeface="Consolas"/>
              </a:rPr>
              <a:t>2026 · </a:t>
            </a:r>
            <a:r>
              <a:rPr sz="1200" b="0" i="0" dirty="0" err="1">
                <a:solidFill>
                  <a:srgbClr val="00E5FF"/>
                </a:solidFill>
                <a:latin typeface="Consolas"/>
              </a:rPr>
              <a:t>分享</a:t>
            </a:r>
            <a:endParaRPr sz="1200" b="0" i="0" dirty="0">
              <a:solidFill>
                <a:srgbClr val="00E5FF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7260" y="107333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 dirty="0" err="1">
                <a:solidFill>
                  <a:srgbClr val="F0EDE8"/>
                </a:solidFill>
                <a:latin typeface="Microsoft YaHei"/>
              </a:rPr>
              <a:t>硅基</a:t>
            </a:r>
            <a:endParaRPr sz="8800" b="1" i="0" dirty="0">
              <a:solidFill>
                <a:srgbClr val="F0EDE8"/>
              </a:solidFill>
              <a:latin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0" y="23774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 dirty="0" err="1">
                <a:solidFill>
                  <a:srgbClr val="00E5FF"/>
                </a:solidFill>
                <a:latin typeface="Microsoft YaHei"/>
              </a:rPr>
              <a:t>时代</a:t>
            </a:r>
            <a:endParaRPr sz="8800" b="1" i="0" dirty="0">
              <a:solidFill>
                <a:srgbClr val="00E5FF"/>
              </a:solidFill>
              <a:latin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38160" y="4923931"/>
            <a:ext cx="54864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 dirty="0" err="1">
                <a:solidFill>
                  <a:srgbClr val="706E6A"/>
                </a:solidFill>
                <a:latin typeface="Microsoft YaHei"/>
              </a:rPr>
              <a:t>当AI深度介入生产、管理与决策</a:t>
            </a:r>
            <a:endParaRPr sz="1600" b="0" i="0" dirty="0">
              <a:solidFill>
                <a:srgbClr val="706E6A"/>
              </a:solidFill>
              <a:latin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2064" y="443484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 dirty="0" err="1">
                <a:solidFill>
                  <a:srgbClr val="706E6A"/>
                </a:solidFill>
                <a:latin typeface="Microsoft YaHei"/>
              </a:rPr>
              <a:t>人类文明将如何重新组织自身</a:t>
            </a:r>
            <a:endParaRPr sz="1600" b="0" i="0" dirty="0">
              <a:solidFill>
                <a:srgbClr val="706E6A"/>
              </a:solidFill>
              <a:latin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8"/>
                </a:solidFill>
                <a:latin typeface="Consolas"/>
              </a:rPr>
              <a:t>SILICON AGE  ·  THE NEXT CIVILIZATION PARADIGM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 dirty="0">
                <a:solidFill>
                  <a:srgbClr val="001418"/>
                </a:solidFill>
                <a:latin typeface="Consolas"/>
              </a:rPr>
              <a:t>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164592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164592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76888" y="6492240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14632" y="6309360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6E6A"/>
                </a:solidFill>
                <a:latin typeface="Consolas"/>
              </a:rPr>
              <a:t>02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00E5FF"/>
                </a:solidFill>
                <a:latin typeface="Consolas"/>
              </a:rPr>
              <a:t>概念起源</a:t>
            </a:r>
            <a:endParaRPr sz="1400" b="0" i="0" dirty="0">
              <a:solidFill>
                <a:srgbClr val="00E5FF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548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0EDE8"/>
                </a:solidFill>
                <a:latin typeface="Microsoft YaHei"/>
              </a:rPr>
              <a:t>硅基生命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 dirty="0" err="1">
                <a:solidFill>
                  <a:srgbClr val="706E6A"/>
                </a:solidFill>
                <a:latin typeface="Microsoft YaHei"/>
              </a:rPr>
              <a:t>从科学假说到时代命名</a:t>
            </a:r>
            <a:endParaRPr sz="2800" b="0" i="0" dirty="0">
              <a:solidFill>
                <a:srgbClr val="706E6A"/>
              </a:solidFill>
              <a:latin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54864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3385686" cy="3096928"/>
          </a:xfrm>
          <a:prstGeom prst="rect">
            <a:avLst/>
          </a:prstGeom>
          <a:solidFill>
            <a:srgbClr val="0A0A10"/>
          </a:solidFill>
          <a:ln w="9525">
            <a:solidFill>
              <a:srgbClr val="28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9631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FF"/>
                </a:solidFill>
                <a:latin typeface="Consolas"/>
              </a:rPr>
              <a:t>1891年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06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Calibri"/>
              </a:rPr>
              <a:t>化学推论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338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706E6A"/>
                </a:solidFill>
                <a:latin typeface="Calibri"/>
              </a:rPr>
              <a:t>化学家James</a:t>
            </a:r>
            <a:r>
              <a:rPr sz="1600" b="0" i="0" dirty="0">
                <a:solidFill>
                  <a:srgbClr val="706E6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706E6A"/>
                </a:solidFill>
                <a:latin typeface="Calibri"/>
              </a:rPr>
              <a:t>Reynolds指出硅与碳同为第IVA族元素，理论上可支撑另一种生命形式</a:t>
            </a:r>
            <a:r>
              <a:rPr sz="1600" b="0" i="0" dirty="0">
                <a:solidFill>
                  <a:srgbClr val="706E6A"/>
                </a:solidFill>
                <a:latin typeface="Calibri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185" y="2331720"/>
            <a:ext cx="3242270" cy="3096928"/>
          </a:xfrm>
          <a:prstGeom prst="rect">
            <a:avLst/>
          </a:prstGeom>
          <a:solidFill>
            <a:srgbClr val="0A0A10"/>
          </a:solidFill>
          <a:ln w="9525">
            <a:solidFill>
              <a:srgbClr val="28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8848" y="2496312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8A96E"/>
                </a:solidFill>
                <a:latin typeface="Consolas"/>
              </a:rPr>
              <a:t>20</a:t>
            </a:r>
            <a:r>
              <a:rPr sz="1200" b="0" i="0" dirty="0">
                <a:solidFill>
                  <a:srgbClr val="C8A96E"/>
                </a:solidFill>
                <a:latin typeface="Consolas"/>
              </a:rPr>
              <a:t>世纪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7706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Calibri"/>
              </a:rPr>
              <a:t>科幻具象化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200401"/>
            <a:ext cx="310511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706E6A"/>
                </a:solidFill>
                <a:latin typeface="Calibri"/>
              </a:rPr>
              <a:t>《</a:t>
            </a:r>
            <a:r>
              <a:rPr sz="1600" b="0" i="0" dirty="0" err="1">
                <a:solidFill>
                  <a:srgbClr val="706E6A"/>
                </a:solidFill>
                <a:latin typeface="Calibri"/>
              </a:rPr>
              <a:t>星际迷航》等作品将硅基生命塑造为矿物智慧体，深入大众想象</a:t>
            </a:r>
            <a:r>
              <a:rPr sz="1600" b="0" i="0" dirty="0">
                <a:solidFill>
                  <a:srgbClr val="706E6A"/>
                </a:solidFill>
                <a:latin typeface="Calibri"/>
              </a:rPr>
              <a:t>。</a:t>
            </a:r>
            <a:endParaRPr lang="en-US" sz="1600" b="0" i="0" dirty="0">
              <a:solidFill>
                <a:srgbClr val="706E6A"/>
              </a:solidFill>
              <a:latin typeface="Calibri"/>
            </a:endParaRPr>
          </a:p>
          <a:p>
            <a:pPr algn="l"/>
            <a:endParaRPr sz="1050" b="0" i="0" dirty="0">
              <a:solidFill>
                <a:srgbClr val="706E6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0455" y="2331720"/>
            <a:ext cx="3456433" cy="3096928"/>
          </a:xfrm>
          <a:prstGeom prst="rect">
            <a:avLst/>
          </a:prstGeom>
          <a:solidFill>
            <a:srgbClr val="0A0A10"/>
          </a:solidFill>
          <a:ln w="9525">
            <a:solidFill>
              <a:srgbClr val="28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57615" y="249631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FF"/>
                </a:solidFill>
                <a:latin typeface="Consolas"/>
              </a:rPr>
              <a:t>今天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27706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Calibri"/>
              </a:rPr>
              <a:t>时代命名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5" y="3200400"/>
            <a:ext cx="338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706E6A"/>
                </a:solidFill>
                <a:latin typeface="Calibri"/>
              </a:rPr>
              <a:t>如同"互联网时代</a:t>
            </a:r>
            <a:r>
              <a:rPr sz="1600" b="0" i="0" dirty="0">
                <a:solidFill>
                  <a:srgbClr val="706E6A"/>
                </a:solidFill>
                <a:latin typeface="Calibri"/>
              </a:rPr>
              <a:t>"——</a:t>
            </a:r>
            <a:r>
              <a:rPr sz="1600" b="0" i="0" dirty="0" err="1">
                <a:solidFill>
                  <a:srgbClr val="706E6A"/>
                </a:solidFill>
                <a:latin typeface="Calibri"/>
              </a:rPr>
              <a:t>硅基时代是AI深度重组人类生产与生活方式的历史阶段</a:t>
            </a:r>
            <a:r>
              <a:rPr sz="1600" b="0" i="0" dirty="0">
                <a:solidFill>
                  <a:srgbClr val="706E6A"/>
                </a:solidFill>
                <a:latin typeface="Calibr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164592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164592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31168" y="5733288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ectangle 4"/>
          <p:cNvSpPr/>
          <p:nvPr/>
        </p:nvSpPr>
        <p:spPr>
          <a:xfrm>
            <a:off x="11868912" y="5550408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6E6A"/>
                </a:solidFill>
                <a:latin typeface="Consolas"/>
              </a:rPr>
              <a:t>03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00E5FF"/>
                </a:solidFill>
                <a:latin typeface="Consolas"/>
              </a:rPr>
              <a:t>马斯克的视角</a:t>
            </a:r>
            <a:endParaRPr sz="1400" b="0" i="0" dirty="0">
              <a:solidFill>
                <a:srgbClr val="00E5FF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54864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EDE8"/>
                </a:solidFill>
                <a:latin typeface="Microsoft YaHei"/>
              </a:rPr>
              <a:t>碳基生命是硅基生命的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892" y="119329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E5FF"/>
                </a:solidFill>
                <a:latin typeface="Microsoft YaHei"/>
              </a:rPr>
              <a:t>引导程序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54864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54864" cy="1188945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2597669"/>
            <a:ext cx="502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F0EDE8"/>
                </a:solidFill>
                <a:latin typeface="Microsoft YaHei"/>
              </a:rPr>
              <a:t>"</a:t>
            </a:r>
            <a:r>
              <a:rPr sz="1350" b="0" i="0" dirty="0" err="1">
                <a:solidFill>
                  <a:srgbClr val="F0EDE8"/>
                </a:solidFill>
                <a:latin typeface="Microsoft YaHei"/>
              </a:rPr>
              <a:t>人类社会是一段非常小的代码，</a:t>
            </a:r>
            <a:r>
              <a:rPr sz="2000" b="0" i="0" dirty="0" err="1">
                <a:solidFill>
                  <a:srgbClr val="F0EDE8"/>
                </a:solidFill>
                <a:latin typeface="Microsoft YaHei"/>
              </a:rPr>
              <a:t>本质是一个生物引导程序</a:t>
            </a:r>
            <a:r>
              <a:rPr sz="1350" b="0" i="0" dirty="0" err="1">
                <a:solidFill>
                  <a:srgbClr val="F0EDE8"/>
                </a:solidFill>
                <a:latin typeface="Microsoft YaHei"/>
              </a:rPr>
              <a:t>（Bootloader</a:t>
            </a:r>
            <a:r>
              <a:rPr sz="1350" b="0" i="0" dirty="0">
                <a:solidFill>
                  <a:srgbClr val="F0EDE8"/>
                </a:solidFill>
                <a:latin typeface="Microsoft YaHei"/>
              </a:rPr>
              <a:t>），</a:t>
            </a:r>
            <a:r>
              <a:rPr sz="1350" b="0" i="0" dirty="0" err="1">
                <a:solidFill>
                  <a:srgbClr val="F0EDE8"/>
                </a:solidFill>
                <a:latin typeface="Microsoft YaHei"/>
              </a:rPr>
              <a:t>最终导致硅基生命的出现</a:t>
            </a:r>
            <a:r>
              <a:rPr sz="1350" b="0" i="0" dirty="0">
                <a:solidFill>
                  <a:srgbClr val="F0EDE8"/>
                </a:solidFill>
                <a:latin typeface="Microsoft YaHei"/>
              </a:rPr>
              <a:t>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A96E"/>
                </a:solidFill>
                <a:latin typeface="Consolas"/>
              </a:rPr>
              <a:t>— ELON MUSK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492" y="4786883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706E6A"/>
                </a:solidFill>
                <a:latin typeface="Microsoft YaHei"/>
              </a:rPr>
              <a:t>Bootloader：电脑开机时最先运行的程序，唯一使命是把操作系统加载起来后交出控制权。马斯克以此比喻人类与AI的关系</a:t>
            </a:r>
            <a:r>
              <a:rPr sz="1600" b="0" i="0" dirty="0">
                <a:solidFill>
                  <a:srgbClr val="706E6A"/>
                </a:solidFill>
                <a:latin typeface="Microsoft YaHei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481328"/>
            <a:ext cx="5897880" cy="1417320"/>
          </a:xfrm>
          <a:prstGeom prst="rect">
            <a:avLst/>
          </a:prstGeom>
          <a:solidFill>
            <a:srgbClr val="0A0A10"/>
          </a:solidFill>
          <a:ln w="9525">
            <a:solidFill>
              <a:srgbClr val="28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6126480" y="1645920"/>
            <a:ext cx="5623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E5FF"/>
                </a:solidFill>
                <a:latin typeface="Consolas"/>
              </a:rPr>
              <a:t>支柱一 · 模拟假说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69810"/>
            <a:ext cx="5623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0EDE8"/>
                </a:solidFill>
                <a:latin typeface="Calibri"/>
              </a:rPr>
              <a:t>现实是一段程序</a:t>
            </a:r>
            <a:endParaRPr sz="1600" b="1" i="0" dirty="0">
              <a:solidFill>
                <a:srgbClr val="F0EDE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2350008"/>
            <a:ext cx="5623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06E6A"/>
                </a:solidFill>
                <a:latin typeface="Calibri"/>
              </a:rPr>
              <a:t>马斯克相信宇宙是某种更高文明运行的模拟，碳基生命创造AI是程序中预设的步骤。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017520"/>
            <a:ext cx="5897880" cy="1417320"/>
          </a:xfrm>
          <a:prstGeom prst="rect">
            <a:avLst/>
          </a:prstGeom>
          <a:solidFill>
            <a:srgbClr val="0A0A10"/>
          </a:solidFill>
          <a:ln w="9525">
            <a:solidFill>
              <a:srgbClr val="28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6126480" y="3182111"/>
            <a:ext cx="5623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A96E"/>
                </a:solidFill>
                <a:latin typeface="Consolas"/>
              </a:rPr>
              <a:t>支柱二 · 脑机接口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3513300"/>
            <a:ext cx="5623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EDE8"/>
                </a:solidFill>
                <a:latin typeface="Calibri"/>
              </a:rPr>
              <a:t>主动融合而非被动替代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886200"/>
            <a:ext cx="5623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706E6A"/>
                </a:solidFill>
                <a:latin typeface="Calibri"/>
              </a:rPr>
              <a:t>Neuralink让人脑直接连接AI，意识可驱动设备、备份上传，人类通过融合保持主导权</a:t>
            </a:r>
            <a:r>
              <a:rPr sz="1600" b="0" i="0" dirty="0">
                <a:solidFill>
                  <a:srgbClr val="706E6A"/>
                </a:solidFill>
                <a:latin typeface="Calibri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71032" y="4764024"/>
            <a:ext cx="5897880" cy="1417320"/>
          </a:xfrm>
          <a:prstGeom prst="rect">
            <a:avLst/>
          </a:prstGeom>
          <a:solidFill>
            <a:srgbClr val="0A0A10"/>
          </a:solidFill>
          <a:ln w="9525">
            <a:solidFill>
              <a:srgbClr val="28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135624" y="4860403"/>
            <a:ext cx="5623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FF3B3B"/>
                </a:solidFill>
                <a:latin typeface="Consolas"/>
              </a:rPr>
              <a:t>支柱三</a:t>
            </a:r>
            <a:r>
              <a:rPr sz="1600" b="0" i="0" dirty="0">
                <a:solidFill>
                  <a:srgbClr val="FF3B3B"/>
                </a:solidFill>
                <a:latin typeface="Consolas"/>
              </a:rPr>
              <a:t> · </a:t>
            </a:r>
            <a:r>
              <a:rPr sz="1600" b="0" i="0" dirty="0" err="1">
                <a:solidFill>
                  <a:srgbClr val="FF3B3B"/>
                </a:solidFill>
                <a:latin typeface="Consolas"/>
              </a:rPr>
              <a:t>AI奇点</a:t>
            </a:r>
            <a:endParaRPr sz="1600" b="0" i="0" dirty="0">
              <a:solidFill>
                <a:srgbClr val="FF3B3B"/>
              </a:solidFill>
              <a:latin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35624" y="5166801"/>
            <a:ext cx="5623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0EDE8"/>
                </a:solidFill>
                <a:latin typeface="Calibri"/>
              </a:rPr>
              <a:t>意识在某个临界点涌现</a:t>
            </a:r>
            <a:endParaRPr sz="1600" b="1" i="0" dirty="0">
              <a:solidFill>
                <a:srgbClr val="F0EDE8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26480" y="5514312"/>
            <a:ext cx="5623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706E6A"/>
                </a:solidFill>
                <a:latin typeface="Calibri"/>
              </a:rPr>
              <a:t>AI在奇点后自主进化成硅基生命</a:t>
            </a:r>
            <a:r>
              <a:rPr sz="1600" b="0" i="0" dirty="0">
                <a:solidFill>
                  <a:srgbClr val="706E6A"/>
                </a:solidFill>
                <a:latin typeface="Calibri"/>
              </a:rPr>
              <a:t>——</a:t>
            </a:r>
            <a:r>
              <a:rPr sz="1600" b="0" i="0" dirty="0" err="1">
                <a:solidFill>
                  <a:srgbClr val="706E6A"/>
                </a:solidFill>
                <a:latin typeface="Calibri"/>
              </a:rPr>
              <a:t>他既警惕这个过程失控，又认为技术上不可避免</a:t>
            </a:r>
            <a:r>
              <a:rPr sz="1600" b="0" i="0" dirty="0">
                <a:solidFill>
                  <a:srgbClr val="706E6A"/>
                </a:solidFill>
                <a:latin typeface="Calibr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164592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164592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6E6A"/>
                </a:solidFill>
                <a:latin typeface="Consolas"/>
              </a:rPr>
              <a:t>04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00E5FF"/>
                </a:solidFill>
                <a:latin typeface="Consolas"/>
              </a:rPr>
              <a:t>黄仁勋</a:t>
            </a:r>
            <a:r>
              <a:rPr sz="1600" b="0" i="0" dirty="0">
                <a:solidFill>
                  <a:srgbClr val="00E5FF"/>
                </a:solidFill>
                <a:latin typeface="Consolas"/>
              </a:rPr>
              <a:t> · CES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0347" y="719891"/>
            <a:ext cx="646360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800" b="1" dirty="0">
                <a:solidFill>
                  <a:srgbClr val="F0EDE8"/>
                </a:solidFill>
                <a:latin typeface="Microsoft YaHei"/>
              </a:rPr>
              <a:t>物理</a:t>
            </a:r>
            <a:r>
              <a:rPr lang="en-US" altLang="zh-CN" sz="3800" b="1" dirty="0">
                <a:solidFill>
                  <a:srgbClr val="F0EDE8"/>
                </a:solidFill>
                <a:latin typeface="Microsoft YaHei"/>
              </a:rPr>
              <a:t>AI</a:t>
            </a:r>
            <a:r>
              <a:rPr lang="zh-CN" altLang="en-US" sz="3800" b="1" dirty="0">
                <a:solidFill>
                  <a:srgbClr val="F0EDE8"/>
                </a:solidFill>
                <a:latin typeface="Microsoft YaHei"/>
              </a:rPr>
              <a:t>的    </a:t>
            </a:r>
            <a:r>
              <a:rPr sz="3800" b="1" i="0" dirty="0" err="1">
                <a:solidFill>
                  <a:srgbClr val="00E5FF"/>
                </a:solidFill>
                <a:latin typeface="Microsoft YaHei"/>
              </a:rPr>
              <a:t>ChatGPT时刻</a:t>
            </a:r>
            <a:endParaRPr sz="3800" b="1" i="0" dirty="0">
              <a:solidFill>
                <a:srgbClr val="00E5FF"/>
              </a:solidFill>
              <a:latin typeface="Microsoft YaHei"/>
            </a:endParaRPr>
          </a:p>
        </p:txBody>
      </p:sp>
      <p:sp>
        <p:nvSpPr>
          <p:cNvPr id="32" name="TextBox 10"/>
          <p:cNvSpPr txBox="1"/>
          <p:nvPr/>
        </p:nvSpPr>
        <p:spPr>
          <a:xfrm>
            <a:off x="502920" y="1721773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00E5FF"/>
                </a:solidFill>
                <a:latin typeface="Microsoft YaHei"/>
              </a:rPr>
              <a:t>"</a:t>
            </a:r>
            <a:r>
              <a:rPr sz="1600" b="0" i="0" dirty="0" err="1">
                <a:solidFill>
                  <a:srgbClr val="00E5FF"/>
                </a:solidFill>
                <a:latin typeface="Microsoft YaHei"/>
              </a:rPr>
              <a:t>物理AI的ChatGPT时刻已经到来</a:t>
            </a:r>
            <a:r>
              <a:rPr sz="1600" b="0" i="0" dirty="0">
                <a:solidFill>
                  <a:srgbClr val="00E5FF"/>
                </a:solidFill>
                <a:latin typeface="Microsoft YaHei"/>
              </a:rPr>
              <a:t>——</a:t>
            </a:r>
            <a:r>
              <a:rPr sz="1600" b="0" i="0" dirty="0" err="1">
                <a:solidFill>
                  <a:srgbClr val="00E5FF"/>
                </a:solidFill>
                <a:latin typeface="Microsoft YaHei"/>
              </a:rPr>
              <a:t>AI从理解语言，走向理解重力、惯性与因果关系</a:t>
            </a:r>
            <a:r>
              <a:rPr sz="1600" b="0" i="0" dirty="0">
                <a:solidFill>
                  <a:srgbClr val="00E5FF"/>
                </a:solidFill>
                <a:latin typeface="Microsoft YaHei"/>
              </a:rPr>
              <a:t>"  — </a:t>
            </a:r>
            <a:r>
              <a:rPr sz="1600" b="0" i="0" dirty="0" err="1">
                <a:solidFill>
                  <a:srgbClr val="00E5FF"/>
                </a:solidFill>
                <a:latin typeface="Microsoft YaHei"/>
              </a:rPr>
              <a:t>黄仁勋</a:t>
            </a:r>
            <a:endParaRPr sz="1600" b="0" i="0" dirty="0">
              <a:solidFill>
                <a:srgbClr val="00E5FF"/>
              </a:solidFill>
              <a:latin typeface="Microsoft YaHei"/>
            </a:endParaRPr>
          </a:p>
        </p:txBody>
      </p:sp>
      <p:sp>
        <p:nvSpPr>
          <p:cNvPr id="33" name="Rectangle 11"/>
          <p:cNvSpPr/>
          <p:nvPr/>
        </p:nvSpPr>
        <p:spPr>
          <a:xfrm>
            <a:off x="283464" y="2551628"/>
            <a:ext cx="3703320" cy="2780768"/>
          </a:xfrm>
          <a:prstGeom prst="rect">
            <a:avLst/>
          </a:prstGeom>
          <a:solidFill>
            <a:srgbClr val="0808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12"/>
          <p:cNvSpPr/>
          <p:nvPr/>
        </p:nvSpPr>
        <p:spPr>
          <a:xfrm>
            <a:off x="283464" y="2551628"/>
            <a:ext cx="37033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3"/>
          <p:cNvSpPr txBox="1"/>
          <p:nvPr/>
        </p:nvSpPr>
        <p:spPr>
          <a:xfrm>
            <a:off x="466344" y="268878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00E5FF"/>
                </a:solidFill>
                <a:latin typeface="Consolas"/>
              </a:rPr>
              <a:t>支柱一</a:t>
            </a:r>
          </a:p>
        </p:txBody>
      </p:sp>
      <p:sp>
        <p:nvSpPr>
          <p:cNvPr id="36" name="TextBox 14"/>
          <p:cNvSpPr txBox="1"/>
          <p:nvPr/>
        </p:nvSpPr>
        <p:spPr>
          <a:xfrm>
            <a:off x="466344" y="29905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0EDE8"/>
                </a:solidFill>
                <a:latin typeface="Microsoft YaHei"/>
              </a:rPr>
              <a:t>Cosmos 世界基础模型</a:t>
            </a:r>
          </a:p>
        </p:txBody>
      </p:sp>
      <p:sp>
        <p:nvSpPr>
          <p:cNvPr id="37" name="Rectangle 15"/>
          <p:cNvSpPr/>
          <p:nvPr/>
        </p:nvSpPr>
        <p:spPr>
          <a:xfrm>
            <a:off x="466344" y="3539180"/>
            <a:ext cx="3291840" cy="13716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6"/>
          <p:cNvSpPr txBox="1"/>
          <p:nvPr/>
        </p:nvSpPr>
        <p:spPr>
          <a:xfrm>
            <a:off x="466344" y="3630619"/>
            <a:ext cx="33101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Microsoft YaHei"/>
              </a:rPr>
              <a:t>在数字孪生世界中大规模训练AI的物理直觉——让机器人在虚拟中学会走路、抓取、搬运，再部署到真实场景。</a:t>
            </a:r>
          </a:p>
        </p:txBody>
      </p:sp>
      <p:sp>
        <p:nvSpPr>
          <p:cNvPr id="39" name="Rectangle 17"/>
          <p:cNvSpPr/>
          <p:nvPr/>
        </p:nvSpPr>
        <p:spPr>
          <a:xfrm>
            <a:off x="4197096" y="2551628"/>
            <a:ext cx="3703320" cy="2780768"/>
          </a:xfrm>
          <a:prstGeom prst="rect">
            <a:avLst/>
          </a:prstGeom>
          <a:solidFill>
            <a:srgbClr val="080812"/>
          </a:solidFill>
          <a:ln w="1270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18"/>
          <p:cNvSpPr/>
          <p:nvPr/>
        </p:nvSpPr>
        <p:spPr>
          <a:xfrm>
            <a:off x="4197096" y="2551628"/>
            <a:ext cx="3703320" cy="54864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9"/>
          <p:cNvSpPr txBox="1"/>
          <p:nvPr/>
        </p:nvSpPr>
        <p:spPr>
          <a:xfrm>
            <a:off x="4379976" y="268878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8A96E"/>
                </a:solidFill>
                <a:latin typeface="Consolas"/>
              </a:rPr>
              <a:t>支柱二</a:t>
            </a:r>
          </a:p>
        </p:txBody>
      </p:sp>
      <p:sp>
        <p:nvSpPr>
          <p:cNvPr id="42" name="TextBox 20"/>
          <p:cNvSpPr txBox="1"/>
          <p:nvPr/>
        </p:nvSpPr>
        <p:spPr>
          <a:xfrm>
            <a:off x="4379976" y="29905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F0EDE8"/>
                </a:solidFill>
                <a:latin typeface="Microsoft YaHei"/>
              </a:rPr>
              <a:t>Alpamayo</a:t>
            </a:r>
            <a:r>
              <a:rPr b="1" i="0" dirty="0">
                <a:solidFill>
                  <a:srgbClr val="F0EDE8"/>
                </a:solidFill>
                <a:latin typeface="Microsoft YaHei"/>
              </a:rPr>
              <a:t> </a:t>
            </a:r>
            <a:r>
              <a:rPr b="1" i="0" dirty="0" err="1">
                <a:solidFill>
                  <a:srgbClr val="F0EDE8"/>
                </a:solidFill>
                <a:latin typeface="Microsoft YaHei"/>
              </a:rPr>
              <a:t>自动驾驶AI</a:t>
            </a:r>
            <a:endParaRPr b="1" i="0" dirty="0">
              <a:solidFill>
                <a:srgbClr val="F0EDE8"/>
              </a:solidFill>
              <a:latin typeface="Microsoft YaHei"/>
            </a:endParaRPr>
          </a:p>
        </p:txBody>
      </p:sp>
      <p:sp>
        <p:nvSpPr>
          <p:cNvPr id="43" name="Rectangle 21"/>
          <p:cNvSpPr/>
          <p:nvPr/>
        </p:nvSpPr>
        <p:spPr>
          <a:xfrm>
            <a:off x="4379976" y="3539180"/>
            <a:ext cx="3291840" cy="13716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22"/>
          <p:cNvSpPr txBox="1"/>
          <p:nvPr/>
        </p:nvSpPr>
        <p:spPr>
          <a:xfrm>
            <a:off x="4379976" y="3630619"/>
            <a:ext cx="33101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Microsoft YaHei"/>
              </a:rPr>
              <a:t>全球首个会思考、会推理的端到端自动驾驶系统。不只会开车，还能像人类一样解释：为什么这么开。2026年Q1上路。</a:t>
            </a:r>
          </a:p>
        </p:txBody>
      </p:sp>
      <p:sp>
        <p:nvSpPr>
          <p:cNvPr id="45" name="Rectangle 23"/>
          <p:cNvSpPr/>
          <p:nvPr/>
        </p:nvSpPr>
        <p:spPr>
          <a:xfrm>
            <a:off x="8110727" y="2551628"/>
            <a:ext cx="3703320" cy="2780768"/>
          </a:xfrm>
          <a:prstGeom prst="rect">
            <a:avLst/>
          </a:prstGeom>
          <a:solidFill>
            <a:srgbClr val="080812"/>
          </a:solidFill>
          <a:ln w="12700">
            <a:solidFill>
              <a:srgbClr val="C0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24"/>
          <p:cNvSpPr/>
          <p:nvPr/>
        </p:nvSpPr>
        <p:spPr>
          <a:xfrm>
            <a:off x="8110727" y="2551628"/>
            <a:ext cx="3703320" cy="54864"/>
          </a:xfrm>
          <a:prstGeom prst="rect">
            <a:avLst/>
          </a:prstGeom>
          <a:solidFill>
            <a:srgbClr val="C0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5"/>
          <p:cNvSpPr txBox="1"/>
          <p:nvPr/>
        </p:nvSpPr>
        <p:spPr>
          <a:xfrm>
            <a:off x="8293607" y="268878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050FF"/>
                </a:solidFill>
                <a:latin typeface="Consolas"/>
              </a:rPr>
              <a:t>支柱三</a:t>
            </a:r>
          </a:p>
        </p:txBody>
      </p:sp>
      <p:sp>
        <p:nvSpPr>
          <p:cNvPr id="48" name="TextBox 26"/>
          <p:cNvSpPr txBox="1"/>
          <p:nvPr/>
        </p:nvSpPr>
        <p:spPr>
          <a:xfrm>
            <a:off x="8293607" y="29905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0EDE8"/>
                </a:solidFill>
                <a:latin typeface="Microsoft YaHei"/>
              </a:rPr>
              <a:t>Vera Rubin 超级算力架构</a:t>
            </a:r>
          </a:p>
        </p:txBody>
      </p:sp>
      <p:sp>
        <p:nvSpPr>
          <p:cNvPr id="49" name="Rectangle 27"/>
          <p:cNvSpPr/>
          <p:nvPr/>
        </p:nvSpPr>
        <p:spPr>
          <a:xfrm>
            <a:off x="8293607" y="3539180"/>
            <a:ext cx="3291840" cy="13716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28"/>
          <p:cNvSpPr txBox="1"/>
          <p:nvPr/>
        </p:nvSpPr>
        <p:spPr>
          <a:xfrm>
            <a:off x="8293607" y="3630619"/>
            <a:ext cx="33101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706E6A"/>
                </a:solidFill>
                <a:latin typeface="Microsoft YaHei"/>
              </a:rPr>
              <a:t>从芯片到机架的全栈革命：Vera</a:t>
            </a:r>
            <a:r>
              <a:rPr b="0" i="0" dirty="0">
                <a:solidFill>
                  <a:srgbClr val="706E6A"/>
                </a:solidFill>
                <a:latin typeface="Microsoft YaHei"/>
              </a:rPr>
              <a:t> CPU + Rubin GPU + NVLink-6，每机架配备150TB共享记忆池，算力每年10倍增长。</a:t>
            </a:r>
          </a:p>
        </p:txBody>
      </p:sp>
      <p:sp>
        <p:nvSpPr>
          <p:cNvPr id="51" name="Rectangle 3"/>
          <p:cNvSpPr/>
          <p:nvPr/>
        </p:nvSpPr>
        <p:spPr>
          <a:xfrm>
            <a:off x="11558016" y="5863326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2" name="Rectangle 4"/>
          <p:cNvSpPr/>
          <p:nvPr/>
        </p:nvSpPr>
        <p:spPr>
          <a:xfrm>
            <a:off x="11795760" y="5680446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3" name="Rectangle 29"/>
          <p:cNvSpPr/>
          <p:nvPr/>
        </p:nvSpPr>
        <p:spPr>
          <a:xfrm>
            <a:off x="384048" y="5662158"/>
            <a:ext cx="11430000" cy="45720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4" name="TextBox 30"/>
          <p:cNvSpPr txBox="1"/>
          <p:nvPr/>
        </p:nvSpPr>
        <p:spPr>
          <a:xfrm>
            <a:off x="475488" y="5680446"/>
            <a:ext cx="2606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onsolas"/>
              </a:rPr>
              <a:t>10×</a:t>
            </a:r>
          </a:p>
        </p:txBody>
      </p:sp>
      <p:sp>
        <p:nvSpPr>
          <p:cNvPr id="55" name="TextBox 31"/>
          <p:cNvSpPr txBox="1"/>
          <p:nvPr/>
        </p:nvSpPr>
        <p:spPr>
          <a:xfrm>
            <a:off x="475488" y="5890758"/>
            <a:ext cx="2606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06E6A"/>
                </a:solidFill>
                <a:latin typeface="Microsoft YaHei"/>
              </a:rPr>
              <a:t>AI算力年增长速度</a:t>
            </a:r>
          </a:p>
        </p:txBody>
      </p:sp>
      <p:sp>
        <p:nvSpPr>
          <p:cNvPr id="56" name="Rectangle 32"/>
          <p:cNvSpPr/>
          <p:nvPr/>
        </p:nvSpPr>
        <p:spPr>
          <a:xfrm>
            <a:off x="3172967" y="5680446"/>
            <a:ext cx="13716" cy="411480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7" name="TextBox 33"/>
          <p:cNvSpPr txBox="1"/>
          <p:nvPr/>
        </p:nvSpPr>
        <p:spPr>
          <a:xfrm>
            <a:off x="3337560" y="5680446"/>
            <a:ext cx="2606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onsolas"/>
              </a:rPr>
              <a:t>10万亿美元</a:t>
            </a:r>
          </a:p>
        </p:txBody>
      </p:sp>
      <p:sp>
        <p:nvSpPr>
          <p:cNvPr id="58" name="TextBox 34"/>
          <p:cNvSpPr txBox="1"/>
          <p:nvPr/>
        </p:nvSpPr>
        <p:spPr>
          <a:xfrm>
            <a:off x="3337560" y="5890758"/>
            <a:ext cx="2606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06E6A"/>
                </a:solidFill>
                <a:latin typeface="Microsoft YaHei"/>
              </a:rPr>
              <a:t>全球算力基础设施待重建规模</a:t>
            </a:r>
          </a:p>
        </p:txBody>
      </p:sp>
      <p:sp>
        <p:nvSpPr>
          <p:cNvPr id="59" name="Rectangle 35"/>
          <p:cNvSpPr/>
          <p:nvPr/>
        </p:nvSpPr>
        <p:spPr>
          <a:xfrm>
            <a:off x="6035040" y="5680446"/>
            <a:ext cx="13716" cy="411480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0" name="TextBox 36"/>
          <p:cNvSpPr txBox="1"/>
          <p:nvPr/>
        </p:nvSpPr>
        <p:spPr>
          <a:xfrm>
            <a:off x="6199631" y="5680446"/>
            <a:ext cx="2606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onsolas"/>
              </a:rPr>
              <a:t>2026 Q1</a:t>
            </a:r>
          </a:p>
        </p:txBody>
      </p:sp>
      <p:sp>
        <p:nvSpPr>
          <p:cNvPr id="61" name="TextBox 37"/>
          <p:cNvSpPr txBox="1"/>
          <p:nvPr/>
        </p:nvSpPr>
        <p:spPr>
          <a:xfrm>
            <a:off x="6199631" y="5890758"/>
            <a:ext cx="2606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06E6A"/>
                </a:solidFill>
                <a:latin typeface="Microsoft YaHei"/>
              </a:rPr>
              <a:t>首批物理AI汽车正式上路</a:t>
            </a:r>
          </a:p>
        </p:txBody>
      </p:sp>
      <p:sp>
        <p:nvSpPr>
          <p:cNvPr id="62" name="Rectangle 38"/>
          <p:cNvSpPr/>
          <p:nvPr/>
        </p:nvSpPr>
        <p:spPr>
          <a:xfrm>
            <a:off x="8897112" y="5680446"/>
            <a:ext cx="13716" cy="411480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3" name="TextBox 39"/>
          <p:cNvSpPr txBox="1"/>
          <p:nvPr/>
        </p:nvSpPr>
        <p:spPr>
          <a:xfrm>
            <a:off x="9061704" y="5680446"/>
            <a:ext cx="2606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onsolas"/>
              </a:rPr>
              <a:t>英伟达新定位</a:t>
            </a:r>
          </a:p>
        </p:txBody>
      </p:sp>
      <p:sp>
        <p:nvSpPr>
          <p:cNvPr id="64" name="TextBox 40"/>
          <p:cNvSpPr txBox="1"/>
          <p:nvPr/>
        </p:nvSpPr>
        <p:spPr>
          <a:xfrm>
            <a:off x="9061704" y="5890758"/>
            <a:ext cx="2606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06E6A"/>
                </a:solidFill>
                <a:latin typeface="Microsoft YaHei"/>
              </a:rPr>
              <a:t>从芯片商 → 全栈AI体系构建者</a:t>
            </a:r>
          </a:p>
        </p:txBody>
      </p:sp>
    </p:spTree>
    <p:extLst>
      <p:ext uri="{BB962C8B-B14F-4D97-AF65-F5344CB8AC3E}">
        <p14:creationId xmlns:p14="http://schemas.microsoft.com/office/powerpoint/2010/main" val="251419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164592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164592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55944" y="6434728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993688" y="6251848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6E6A"/>
                </a:solidFill>
                <a:latin typeface="Consolas"/>
              </a:rPr>
              <a:t>05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nsolas"/>
              </a:rPr>
              <a:t>未来生活图景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86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F0EDE8"/>
                </a:solidFill>
                <a:latin typeface="Microsoft YaHei"/>
              </a:rPr>
              <a:t>两种设想共同指向的</a:t>
            </a:r>
            <a:endParaRPr sz="3600" b="1" i="0" dirty="0">
              <a:solidFill>
                <a:srgbClr val="F0EDE8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39573" y="151351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C8A96E"/>
                </a:solidFill>
                <a:latin typeface="Microsoft YaHei"/>
              </a:rPr>
              <a:t>新日常</a:t>
            </a:r>
            <a:endParaRPr sz="3600" b="1" i="0" dirty="0">
              <a:solidFill>
                <a:srgbClr val="C8A96E"/>
              </a:solidFill>
              <a:latin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14085" y="2199312"/>
            <a:ext cx="548640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4085" y="2446200"/>
            <a:ext cx="45720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6965" y="2491920"/>
            <a:ext cx="1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F0EDE8"/>
                </a:solidFill>
                <a:latin typeface="Microsoft YaHei"/>
              </a:rPr>
              <a:t>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1405" y="2491919"/>
            <a:ext cx="7636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 err="1">
                <a:solidFill>
                  <a:srgbClr val="706E6A"/>
                </a:solidFill>
                <a:latin typeface="Microsoft YaHei"/>
              </a:rPr>
              <a:t>重复性脑力与体力劳动大幅减少，人专注于判断、创意与情感连接</a:t>
            </a:r>
            <a:endParaRPr b="0" i="0" dirty="0">
              <a:solidFill>
                <a:srgbClr val="706E6A"/>
              </a:solidFill>
              <a:latin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14085" y="3091766"/>
            <a:ext cx="8521453" cy="45719"/>
          </a:xfrm>
          <a:prstGeom prst="rect">
            <a:avLst/>
          </a:prstGeom>
          <a:solidFill>
            <a:srgbClr val="22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014085" y="3269160"/>
            <a:ext cx="45720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6965" y="3314879"/>
            <a:ext cx="1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F0EDE8"/>
                </a:solidFill>
                <a:latin typeface="Microsoft YaHei"/>
              </a:rPr>
              <a:t>医疗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1405" y="3314878"/>
            <a:ext cx="7415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 err="1">
                <a:solidFill>
                  <a:srgbClr val="706E6A"/>
                </a:solidFill>
                <a:latin typeface="Microsoft YaHei"/>
              </a:rPr>
              <a:t>AI实时监测身体，个性化用药，早于症状发现问题</a:t>
            </a:r>
            <a:endParaRPr b="0" i="0" dirty="0">
              <a:solidFill>
                <a:srgbClr val="706E6A"/>
              </a:solidFill>
              <a:latin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 flipV="1">
            <a:off x="2014085" y="3803168"/>
            <a:ext cx="8521453" cy="87783"/>
          </a:xfrm>
          <a:prstGeom prst="rect">
            <a:avLst/>
          </a:prstGeom>
          <a:solidFill>
            <a:srgbClr val="22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14085" y="4092120"/>
            <a:ext cx="45720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96965" y="4137839"/>
            <a:ext cx="1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F0EDE8"/>
                </a:solidFill>
                <a:latin typeface="Microsoft YaHei"/>
              </a:rPr>
              <a:t>教育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1405" y="4137839"/>
            <a:ext cx="75161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 err="1">
                <a:solidFill>
                  <a:srgbClr val="706E6A"/>
                </a:solidFill>
                <a:latin typeface="Microsoft YaHei"/>
              </a:rPr>
              <a:t>AI因材施教，每个孩子拥有专属学习路径</a:t>
            </a:r>
            <a:endParaRPr b="0" i="0" dirty="0">
              <a:solidFill>
                <a:srgbClr val="706E6A"/>
              </a:solidFill>
              <a:latin typeface="Microsoft YaHei"/>
            </a:endParaRPr>
          </a:p>
        </p:txBody>
      </p:sp>
      <p:sp>
        <p:nvSpPr>
          <p:cNvPr id="22" name="Rectangle 21"/>
          <p:cNvSpPr/>
          <p:nvPr/>
        </p:nvSpPr>
        <p:spPr>
          <a:xfrm flipV="1">
            <a:off x="2014085" y="4659047"/>
            <a:ext cx="8521453" cy="138988"/>
          </a:xfrm>
          <a:prstGeom prst="rect">
            <a:avLst/>
          </a:prstGeom>
          <a:solidFill>
            <a:srgbClr val="22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14085" y="4915080"/>
            <a:ext cx="45720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96965" y="4960800"/>
            <a:ext cx="1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F0EDE8"/>
                </a:solidFill>
                <a:latin typeface="Microsoft YaHei"/>
              </a:rPr>
              <a:t>出行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1405" y="4960800"/>
            <a:ext cx="7415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 err="1">
                <a:solidFill>
                  <a:srgbClr val="706E6A"/>
                </a:solidFill>
                <a:latin typeface="Microsoft YaHei"/>
              </a:rPr>
              <a:t>自动驾驶普及，交通事故接近消失，私家车概念重构</a:t>
            </a:r>
            <a:endParaRPr b="0" i="0" dirty="0">
              <a:solidFill>
                <a:srgbClr val="706E6A"/>
              </a:solidFill>
              <a:latin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014085" y="5474692"/>
            <a:ext cx="8521453" cy="208484"/>
          </a:xfrm>
          <a:prstGeom prst="rect">
            <a:avLst/>
          </a:prstGeom>
          <a:solidFill>
            <a:srgbClr val="22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014085" y="5738040"/>
            <a:ext cx="45720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6965" y="5783760"/>
            <a:ext cx="1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F0EDE8"/>
                </a:solidFill>
                <a:latin typeface="Microsoft YaHei"/>
              </a:rPr>
              <a:t>创作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1405" y="5783760"/>
            <a:ext cx="7877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706E6A"/>
                </a:solidFill>
                <a:latin typeface="Microsoft YaHei"/>
              </a:rPr>
              <a:t>生产力门槛消失，每个人都能低门槛表达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4085" y="6359832"/>
            <a:ext cx="8611888" cy="45719"/>
          </a:xfrm>
          <a:prstGeom prst="rect">
            <a:avLst/>
          </a:prstGeom>
          <a:solidFill>
            <a:srgbClr val="22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164592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164592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76888" y="6492240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14632" y="6309360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6E6A"/>
                </a:solidFill>
                <a:latin typeface="Consolas"/>
              </a:rPr>
              <a:t>06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nsolas"/>
              </a:rPr>
              <a:t>两种态度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0EDE8"/>
                </a:solidFill>
                <a:latin typeface="Microsoft YaHei"/>
              </a:rPr>
              <a:t>同一趋势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 err="1">
                <a:solidFill>
                  <a:srgbClr val="FF3B3B"/>
                </a:solidFill>
                <a:latin typeface="Microsoft YaHei"/>
              </a:rPr>
              <a:t>截然不同的立场</a:t>
            </a:r>
            <a:endParaRPr sz="3800" b="1" i="0" dirty="0">
              <a:solidFill>
                <a:srgbClr val="FF3B3B"/>
              </a:solidFill>
              <a:latin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548640" cy="27432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825" y="2267712"/>
            <a:ext cx="11430000" cy="457200"/>
          </a:xfrm>
          <a:prstGeom prst="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265" y="2340864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00E5FF"/>
                </a:solidFill>
                <a:latin typeface="Consolas"/>
              </a:rPr>
              <a:t>维度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4944" y="2340864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00E5FF"/>
                </a:solidFill>
                <a:latin typeface="Consolas"/>
              </a:rPr>
              <a:t>黄仁勋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184" y="2340864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00E5FF"/>
                </a:solidFill>
                <a:latin typeface="Consolas"/>
              </a:rPr>
              <a:t>马斯克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825" y="2816352"/>
            <a:ext cx="11430000" cy="713232"/>
          </a:xfrm>
          <a:prstGeom prst="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58825" y="2816352"/>
            <a:ext cx="11430000" cy="7315"/>
          </a:xfrm>
          <a:prstGeom prst="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265" y="2926080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F0EDE8"/>
                </a:solidFill>
                <a:latin typeface="Microsoft YaHei"/>
              </a:rPr>
              <a:t>基本态度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4944" y="2926080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706E6A"/>
                </a:solidFill>
                <a:latin typeface="Microsoft YaHei"/>
              </a:rPr>
              <a:t>乐观工具论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184" y="2926080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706E6A"/>
                </a:solidFill>
                <a:latin typeface="Microsoft YaHei"/>
              </a:rPr>
              <a:t>警示融合论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825" y="3584448"/>
            <a:ext cx="11430000" cy="713232"/>
          </a:xfrm>
          <a:prstGeom prst="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825" y="3584448"/>
            <a:ext cx="11430000" cy="7315"/>
          </a:xfrm>
          <a:prstGeom prst="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265" y="3694175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F0EDE8"/>
                </a:solidFill>
                <a:latin typeface="Microsoft YaHei"/>
              </a:rPr>
              <a:t>AI定位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4944" y="3694175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706E6A"/>
                </a:solidFill>
                <a:latin typeface="Microsoft YaHei"/>
              </a:rPr>
              <a:t>有史以来最强生产力工具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184" y="3694175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706E6A"/>
                </a:solidFill>
                <a:latin typeface="Microsoft YaHei"/>
              </a:rPr>
              <a:t>能力终将超越人类的存在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825" y="4352544"/>
            <a:ext cx="11430000" cy="713232"/>
          </a:xfrm>
          <a:prstGeom prst="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8825" y="4352544"/>
            <a:ext cx="11430000" cy="7315"/>
          </a:xfrm>
          <a:prstGeom prst="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265" y="4462272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F0EDE8"/>
                </a:solidFill>
                <a:latin typeface="Microsoft YaHei"/>
              </a:rPr>
              <a:t>人类应对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4944" y="4462272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706E6A"/>
                </a:solidFill>
                <a:latin typeface="Microsoft YaHei"/>
              </a:rPr>
              <a:t>拥抱AI、重构生产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184" y="4462272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706E6A"/>
                </a:solidFill>
                <a:latin typeface="Microsoft YaHei"/>
              </a:rPr>
              <a:t>主动融合（脑机接口）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825" y="5120640"/>
            <a:ext cx="11430000" cy="713232"/>
          </a:xfrm>
          <a:prstGeom prst="rect">
            <a:avLst/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8825" y="5120640"/>
            <a:ext cx="11430000" cy="7315"/>
          </a:xfrm>
          <a:prstGeom prst="rect">
            <a:avLst/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265" y="5230368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F0EDE8"/>
                </a:solidFill>
                <a:latin typeface="Microsoft YaHei"/>
              </a:rPr>
              <a:t>核心担忧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4944" y="5230368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706E6A"/>
                </a:solidFill>
                <a:latin typeface="Microsoft YaHei"/>
              </a:rPr>
              <a:t>落地效率与算力成本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184" y="5230368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>
                <a:solidFill>
                  <a:srgbClr val="706E6A"/>
                </a:solidFill>
                <a:latin typeface="Microsoft YaHei"/>
              </a:rPr>
              <a:t>失控风险与主导权旁落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164592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164592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76888" y="6492240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14632" y="6309360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6E6A"/>
                </a:solidFill>
                <a:latin typeface="Consolas"/>
              </a:rPr>
              <a:t>07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nsolas"/>
              </a:rPr>
              <a:t>社会组织演变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0EDE8"/>
                </a:solidFill>
                <a:latin typeface="Microsoft YaHei"/>
              </a:rPr>
              <a:t>权力结构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5274" y="1247478"/>
            <a:ext cx="664865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 err="1">
                <a:solidFill>
                  <a:srgbClr val="00E5FF"/>
                </a:solidFill>
                <a:latin typeface="Microsoft YaHei"/>
              </a:rPr>
              <a:t>正在被重新发明</a:t>
            </a:r>
            <a:endParaRPr sz="3800" b="1" i="0" dirty="0">
              <a:solidFill>
                <a:srgbClr val="00E5FF"/>
              </a:solidFill>
              <a:latin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54864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286000"/>
            <a:ext cx="5281863" cy="4023360"/>
          </a:xfrm>
          <a:prstGeom prst="rect">
            <a:avLst/>
          </a:prstGeom>
          <a:solidFill>
            <a:srgbClr val="080810"/>
          </a:solidFill>
          <a:ln w="12700">
            <a:solidFill>
              <a:srgbClr val="706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706E6A"/>
                </a:solidFill>
                <a:latin typeface="Consolas"/>
              </a:rPr>
              <a:t>旧范式</a:t>
            </a:r>
            <a:r>
              <a:rPr b="0" i="0" dirty="0">
                <a:solidFill>
                  <a:srgbClr val="706E6A"/>
                </a:solidFill>
                <a:latin typeface="Consolas"/>
              </a:rPr>
              <a:t>  ·  </a:t>
            </a:r>
            <a:r>
              <a:rPr b="0" i="0" dirty="0" err="1">
                <a:solidFill>
                  <a:srgbClr val="706E6A"/>
                </a:solidFill>
                <a:latin typeface="Consolas"/>
              </a:rPr>
              <a:t>人管理人</a:t>
            </a:r>
            <a:endParaRPr b="0" i="0" dirty="0">
              <a:solidFill>
                <a:srgbClr val="706E6A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 flipV="1">
            <a:off x="502920" y="2898647"/>
            <a:ext cx="5281863" cy="45719"/>
          </a:xfrm>
          <a:prstGeom prst="rect">
            <a:avLst/>
          </a:prstGeom>
          <a:solidFill>
            <a:srgbClr val="70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Microsoft YaHei"/>
              </a:rPr>
              <a:t>→  权力来自人际网络与资源垄断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49039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Microsoft YaHei"/>
              </a:rPr>
              <a:t>→  合法性来自选举与传统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Microsoft YaHei"/>
              </a:rPr>
              <a:t>→  社会矛盾在阶级之间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2064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Microsoft YaHei"/>
              </a:rPr>
              <a:t>→  个体通过劳动获得社会位置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286000"/>
            <a:ext cx="4848726" cy="4023360"/>
          </a:xfrm>
          <a:prstGeom prst="rect">
            <a:avLst/>
          </a:prstGeom>
          <a:solidFill>
            <a:srgbClr val="08081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242316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00E5FF"/>
                </a:solidFill>
                <a:latin typeface="Consolas"/>
              </a:rPr>
              <a:t>新范式  ·  人设规则 · AI管系统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880359"/>
            <a:ext cx="4848726" cy="45719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06324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Microsoft YaHei"/>
              </a:rPr>
              <a:t>→  权力来自算法控制与数据垄断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749039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Microsoft YaHei"/>
              </a:rPr>
              <a:t>→  合法性来自效率与结果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3484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Microsoft YaHei"/>
              </a:rPr>
              <a:t>→  社会矛盾在人类与算法规则之间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12064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Microsoft YaHei"/>
              </a:rPr>
              <a:t>→  个体通过数据贡献获得社会位置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164592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164592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76888" y="6492240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14632" y="6309360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6E6A"/>
                </a:solidFill>
                <a:latin typeface="Consolas"/>
              </a:rPr>
              <a:t>08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nsolas"/>
              </a:rPr>
              <a:t>核心命题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8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EDE8"/>
                </a:solidFill>
                <a:latin typeface="Microsoft YaHei"/>
              </a:rPr>
              <a:t>AI的目标函数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225" y="1325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00E5FF"/>
                </a:solidFill>
                <a:latin typeface="Microsoft YaHei"/>
              </a:rPr>
              <a:t>由谁定义，为谁服务</a:t>
            </a:r>
            <a:endParaRPr sz="3600" b="1" i="0" dirty="0">
              <a:solidFill>
                <a:srgbClr val="00E5FF"/>
              </a:solidFill>
              <a:latin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54864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286001"/>
            <a:ext cx="3703320" cy="2743200"/>
          </a:xfrm>
          <a:prstGeom prst="rect">
            <a:avLst/>
          </a:prstGeom>
          <a:solidFill>
            <a:srgbClr val="0A0A10"/>
          </a:solidFill>
          <a:ln w="9525">
            <a:solidFill>
              <a:srgbClr val="28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2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C8A96E"/>
                </a:solidFill>
                <a:latin typeface="Consolas"/>
              </a:rPr>
              <a:t>路径</a:t>
            </a:r>
            <a:r>
              <a:rPr sz="1400" b="0" i="0" dirty="0">
                <a:solidFill>
                  <a:srgbClr val="C8A96E"/>
                </a:solidFill>
                <a:latin typeface="Consolas"/>
              </a:rPr>
              <a:t>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24912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EDE8"/>
                </a:solidFill>
                <a:latin typeface="Calibri"/>
              </a:rPr>
              <a:t>科技资本主导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3429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Calibri"/>
              </a:rPr>
              <a:t>少数平台掌握算法定义权。效率极高，但财富极度集中，赢家通吃将比今天严重一百倍。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2286000"/>
            <a:ext cx="3703320" cy="2743200"/>
          </a:xfrm>
          <a:prstGeom prst="rect">
            <a:avLst/>
          </a:prstGeom>
          <a:solidFill>
            <a:srgbClr val="0A0A10"/>
          </a:solidFill>
          <a:ln w="9525">
            <a:solidFill>
              <a:srgbClr val="28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2450592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FF3B3B"/>
                </a:solidFill>
                <a:latin typeface="Consolas"/>
              </a:rPr>
              <a:t>路径</a:t>
            </a:r>
            <a:r>
              <a:rPr sz="1400" b="0" i="0" dirty="0">
                <a:solidFill>
                  <a:srgbClr val="FF3B3B"/>
                </a:solidFill>
                <a:latin typeface="Consolas"/>
              </a:rPr>
              <a:t>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724912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EDE8"/>
                </a:solidFill>
                <a:latin typeface="Calibri"/>
              </a:rPr>
              <a:t>国家政府主导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154680"/>
            <a:ext cx="3429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706E6A"/>
                </a:solidFill>
                <a:latin typeface="Calibri"/>
              </a:rPr>
              <a:t>AI成为治理工具，社会稳定但个体自由空间收窄，权力监控能力前所未有</a:t>
            </a:r>
            <a:r>
              <a:rPr b="0" i="0" dirty="0">
                <a:solidFill>
                  <a:srgbClr val="706E6A"/>
                </a:solidFill>
                <a:latin typeface="Calibri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0183" y="2286000"/>
            <a:ext cx="3703320" cy="2743200"/>
          </a:xfrm>
          <a:prstGeom prst="rect">
            <a:avLst/>
          </a:prstGeom>
          <a:solidFill>
            <a:srgbClr val="0A0A10"/>
          </a:solidFill>
          <a:ln w="9525">
            <a:solidFill>
              <a:srgbClr val="28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67344" y="2450592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5FF"/>
                </a:solidFill>
                <a:latin typeface="Consolas"/>
              </a:rPr>
              <a:t>路径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724912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0EDE8"/>
                </a:solidFill>
                <a:latin typeface="Calibri"/>
              </a:rPr>
              <a:t>民主机制主导</a:t>
            </a:r>
            <a:endParaRPr sz="1600" b="1" i="0" dirty="0">
              <a:solidFill>
                <a:srgbClr val="F0EDE8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67344" y="3154680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706E6A"/>
                </a:solidFill>
                <a:latin typeface="Calibri"/>
              </a:rPr>
              <a:t>需要发明AI时代宪政——最难实现，但最具长期价值。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2" y="164592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164592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676888" y="6492240"/>
            <a:ext cx="256032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14632" y="6309360"/>
            <a:ext cx="1828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6E6A"/>
                </a:solidFill>
                <a:latin typeface="Consolas"/>
              </a:rPr>
              <a:t>09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nsolas"/>
              </a:rPr>
              <a:t>结语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0EDE8"/>
                </a:solidFill>
                <a:latin typeface="Microsoft YaHei"/>
              </a:rPr>
              <a:t>硅基时代不是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735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 err="1">
                <a:solidFill>
                  <a:srgbClr val="00E5FF"/>
                </a:solidFill>
                <a:latin typeface="Microsoft YaHei"/>
              </a:rPr>
              <a:t>硅基生命取代人类</a:t>
            </a:r>
            <a:r>
              <a:rPr sz="3800" b="1" i="0" dirty="0">
                <a:solidFill>
                  <a:srgbClr val="00E5FF"/>
                </a:solidFill>
                <a:latin typeface="Microsoft YaHei"/>
              </a:rPr>
              <a:t>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31796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6E6A"/>
                </a:solidFill>
                <a:latin typeface="Microsoft YaHei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93899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 err="1">
                <a:solidFill>
                  <a:srgbClr val="F0EDE8"/>
                </a:solidFill>
                <a:latin typeface="Microsoft YaHei"/>
              </a:rPr>
              <a:t>而是人类借助硅基工具</a:t>
            </a:r>
            <a:endParaRPr sz="3800" b="1" i="0" dirty="0">
              <a:solidFill>
                <a:srgbClr val="F0EDE8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088" y="314187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 err="1">
                <a:solidFill>
                  <a:srgbClr val="C8A96E"/>
                </a:solidFill>
                <a:latin typeface="Microsoft YaHei"/>
              </a:rPr>
              <a:t>大规模重组文明的时代</a:t>
            </a:r>
            <a:r>
              <a:rPr sz="3800" b="1" i="0" dirty="0">
                <a:solidFill>
                  <a:srgbClr val="C8A96E"/>
                </a:solidFill>
                <a:latin typeface="Microsoft YaHei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22776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6E6A"/>
                </a:solidFill>
                <a:latin typeface="Microsoft YaHei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6732" y="4284878"/>
            <a:ext cx="63454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 dirty="0" err="1">
                <a:solidFill>
                  <a:srgbClr val="F0EDE8"/>
                </a:solidFill>
                <a:latin typeface="Microsoft YaHei"/>
              </a:rPr>
              <a:t>我们，正站在这个窗口期的</a:t>
            </a:r>
            <a:endParaRPr sz="3200" b="1" i="0" dirty="0">
              <a:solidFill>
                <a:srgbClr val="F0EDE8"/>
              </a:solidFill>
              <a:latin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60520" y="4970678"/>
            <a:ext cx="65187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 dirty="0" err="1">
                <a:solidFill>
                  <a:srgbClr val="00E5FF"/>
                </a:solidFill>
                <a:latin typeface="Microsoft YaHei"/>
              </a:rPr>
              <a:t>正中央</a:t>
            </a:r>
            <a:r>
              <a:rPr sz="3200" b="1" i="0" dirty="0">
                <a:solidFill>
                  <a:srgbClr val="00E5FF"/>
                </a:solidFill>
                <a:latin typeface="Microsoft YaHei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663793"/>
            <a:ext cx="54864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846673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6E6A"/>
                </a:solidFill>
                <a:latin typeface="Microsoft YaHei"/>
              </a:rPr>
              <a:t>感谢聆听  ·  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13716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0" b="1" i="0" dirty="0">
                <a:solidFill>
                  <a:srgbClr val="08080C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1704</Words>
  <Application>Microsoft Office PowerPoint</Application>
  <PresentationFormat>自定义</PresentationFormat>
  <Paragraphs>157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蓝人</dc:creator>
  <cp:keywords/>
  <dc:description>generated using python-pptx</dc:description>
  <cp:lastModifiedBy>人 蓝</cp:lastModifiedBy>
  <cp:revision>12</cp:revision>
  <dcterms:created xsi:type="dcterms:W3CDTF">2013-01-27T09:14:16Z</dcterms:created>
  <dcterms:modified xsi:type="dcterms:W3CDTF">2026-05-28T22:02:34Z</dcterms:modified>
  <cp:category/>
</cp:coreProperties>
</file>